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uli" charset="1" panose="00000500000000000000"/>
      <p:regular r:id="rId15"/>
    </p:embeddedFont>
    <p:embeddedFont>
      <p:font typeface="Muli Bold" charset="1" panose="00000800000000000000"/>
      <p:regular r:id="rId16"/>
    </p:embeddedFont>
    <p:embeddedFont>
      <p:font typeface="Arial Bold" charset="1" panose="020B0704020202020204"/>
      <p:regular r:id="rId17"/>
    </p:embeddedFont>
    <p:embeddedFont>
      <p:font typeface="Arial" charset="1" panose="020B0604020202020204"/>
      <p:regular r:id="rId18"/>
    </p:embeddedFont>
    <p:embeddedFont>
      <p:font typeface="Muli Semi-Bold" charset="1" panose="00000700000000000000"/>
      <p:regular r:id="rId19"/>
    </p:embeddedFont>
    <p:embeddedFont>
      <p:font typeface="Consolas Bold" charset="1" panose="020B0709020204030204"/>
      <p:regular r:id="rId20"/>
    </p:embeddedFont>
    <p:embeddedFont>
      <p:font typeface="Consolas" charset="1" panose="020B0609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4.xml" Type="http://schemas.openxmlformats.org/officeDocument/2006/relationships/slide"/><Relationship Id="rId11" Target="slide9.xml" Type="http://schemas.openxmlformats.org/officeDocument/2006/relationships/slide"/><Relationship Id="rId12" Target="slide8.xml" Type="http://schemas.openxmlformats.org/officeDocument/2006/relationships/slid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slide3.xml" Type="http://schemas.openxmlformats.org/officeDocument/2006/relationships/slide"/><Relationship Id="rId7" Target="slide5.xml" Type="http://schemas.openxmlformats.org/officeDocument/2006/relationships/slide"/><Relationship Id="rId8" Target="slide7.xml" Type="http://schemas.openxmlformats.org/officeDocument/2006/relationships/slide"/><Relationship Id="rId9" Target="slide6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85437" y="3668925"/>
            <a:ext cx="12317127" cy="2949150"/>
            <a:chOff x="0" y="0"/>
            <a:chExt cx="16422836" cy="39322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296989"/>
              <a:ext cx="16422836" cy="635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Kiể</a:t>
              </a:r>
              <a:r>
                <a:rPr lang="en-US" sz="290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m thử tự động hóa &amp; Phân tích chất lượng mã nguồn dự án DevTrack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3350"/>
              <a:ext cx="16422836" cy="2577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02"/>
                </a:lnSpc>
              </a:pPr>
              <a:r>
                <a:rPr lang="en-US" sz="7302" spc="-24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NGHIÊN CỨU &amp; ỨNG DỤNG CÔNG CỤ KIỂM THỬ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8489" y="-1844711"/>
            <a:ext cx="12008614" cy="10502078"/>
          </a:xfrm>
          <a:custGeom>
            <a:avLst/>
            <a:gdLst/>
            <a:ahLst/>
            <a:cxnLst/>
            <a:rect r="r" b="b" t="t" l="l"/>
            <a:pathLst>
              <a:path h="10502078" w="12008614">
                <a:moveTo>
                  <a:pt x="0" y="0"/>
                </a:moveTo>
                <a:lnTo>
                  <a:pt x="12008614" y="0"/>
                </a:lnTo>
                <a:lnTo>
                  <a:pt x="12008614" y="10502079"/>
                </a:lnTo>
                <a:lnTo>
                  <a:pt x="0" y="10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1041">
            <a:off x="-6521096" y="3918118"/>
            <a:ext cx="17614873" cy="17454738"/>
          </a:xfrm>
          <a:custGeom>
            <a:avLst/>
            <a:gdLst/>
            <a:ahLst/>
            <a:cxnLst/>
            <a:rect r="r" b="b" t="t" l="l"/>
            <a:pathLst>
              <a:path h="17454738" w="17614873">
                <a:moveTo>
                  <a:pt x="0" y="0"/>
                </a:moveTo>
                <a:lnTo>
                  <a:pt x="17614873" y="0"/>
                </a:lnTo>
                <a:lnTo>
                  <a:pt x="17614873" y="17454738"/>
                </a:lnTo>
                <a:lnTo>
                  <a:pt x="0" y="17454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0" y="10104444"/>
            <a:ext cx="18288000" cy="182556"/>
          </a:xfrm>
          <a:prstGeom prst="rect">
            <a:avLst/>
          </a:prstGeom>
          <a:solidFill>
            <a:srgbClr val="F24300"/>
          </a:solidFill>
        </p:spPr>
      </p:sp>
      <p:sp>
        <p:nvSpPr>
          <p:cNvPr name="TextBox 5" id="5"/>
          <p:cNvSpPr txBox="true"/>
          <p:nvPr/>
        </p:nvSpPr>
        <p:spPr>
          <a:xfrm rot="0">
            <a:off x="1028700" y="871192"/>
            <a:ext cx="10126552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b="true" sz="2500" u="sng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  <a:hlinkClick r:id="rId6" action="ppaction://hlinksldjump"/>
              </a:rPr>
              <a:t>01. Tổng quan &amp; Lựa chọn công cụ</a:t>
            </a:r>
          </a:p>
          <a:p>
            <a:pPr algn="l">
              <a:lnSpc>
                <a:spcPts val="3250"/>
              </a:lnSpc>
            </a:pPr>
            <a:r>
              <a:rPr lang="en-US" sz="2500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6" action="ppaction://hlinksldjump"/>
              </a:rPr>
              <a:t>Tìm hiểu lý do chọn Playwright (E2E) và ESLint (Static analysis).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44231"/>
            <a:ext cx="10126552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b="true" sz="2500" u="sng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  <a:hlinkClick r:id="rId7" action="ppaction://hlinksldjump"/>
              </a:rPr>
              <a:t>03. Quy trình cài đặt &amp; Cấu hình</a:t>
            </a:r>
          </a:p>
          <a:p>
            <a:pPr algn="l">
              <a:lnSpc>
                <a:spcPts val="3250"/>
              </a:lnSpc>
            </a:pPr>
            <a:r>
              <a:rPr lang="en-US" sz="2500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7" action="ppaction://hlinksldjump"/>
              </a:rPr>
              <a:t>Hướng dẫn cài đặt package và file cấu hình playwright.config.js.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017269"/>
            <a:ext cx="9019371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b="true" sz="2500" u="sng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  <a:hlinkClick r:id="rId8" action="ppaction://hlinksldjump"/>
              </a:rPr>
              <a:t>05. Kịch bản test E2E: Sprint &amp; Task &amp; Issue</a:t>
            </a:r>
          </a:p>
          <a:p>
            <a:pPr algn="l">
              <a:lnSpc>
                <a:spcPts val="3250"/>
              </a:lnSpc>
            </a:pPr>
            <a:r>
              <a:rPr lang="en-US" sz="2500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8" action="ppaction://hlinksldjump"/>
              </a:rPr>
              <a:t>Tự động hóa luồng làm việc Agile trên bảng Kanban.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30750"/>
            <a:ext cx="8579754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b="true" sz="2500" u="sng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  <a:hlinkClick r:id="rId9" action="ppaction://hlinksldjump"/>
              </a:rPr>
              <a:t>04. Kịch bản test E2E: Req &amp; Use Case</a:t>
            </a:r>
          </a:p>
          <a:p>
            <a:pPr algn="l">
              <a:lnSpc>
                <a:spcPts val="3250"/>
              </a:lnSpc>
            </a:pPr>
            <a:r>
              <a:rPr lang="en-US" sz="2500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9" action="ppaction://hlinksldjump"/>
              </a:rPr>
              <a:t>Tự động hóa luồng tạo Requirement và Use Case liên kết.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157711"/>
            <a:ext cx="8579754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b="true" sz="2500" u="sng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  <a:hlinkClick r:id="rId10" action="ppaction://hlinksldjump"/>
              </a:rPr>
              <a:t>02. Kế hoạch dữ liệu kiểm thử</a:t>
            </a:r>
          </a:p>
          <a:p>
            <a:pPr algn="l">
              <a:lnSpc>
                <a:spcPts val="3250"/>
              </a:lnSpc>
            </a:pPr>
            <a:r>
              <a:rPr lang="en-US" sz="2500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10" action="ppaction://hlinksldjump"/>
              </a:rPr>
              <a:t>Chiến dịch thiết lập luồng tạo dữ liệu liên thông khép kín.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590308"/>
            <a:ext cx="8525650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b="true" sz="2499" u="sng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  <a:hlinkClick r:id="rId11" action="ppaction://hlinksldjump"/>
              </a:rPr>
              <a:t>07. HTML Report &amp; Static Analysis</a:t>
            </a:r>
          </a:p>
          <a:p>
            <a:pPr algn="l">
              <a:lnSpc>
                <a:spcPts val="3249"/>
              </a:lnSpc>
            </a:pPr>
            <a:r>
              <a:rPr lang="en-US" sz="2499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11" action="ppaction://hlinksldjump"/>
              </a:rPr>
              <a:t>Đánh giá kết quả kiểm thử và phân tích chất lượng code.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303789"/>
            <a:ext cx="8922870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b="true" sz="2500" u="sng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  <a:hlinkClick r:id="rId12" action="ppaction://hlinksldjump"/>
              </a:rPr>
              <a:t>06. Thực thi tự động (Live Demo)</a:t>
            </a:r>
          </a:p>
          <a:p>
            <a:pPr algn="l">
              <a:lnSpc>
                <a:spcPts val="3250"/>
              </a:lnSpc>
            </a:pPr>
            <a:r>
              <a:rPr lang="en-US" sz="2500" u="sng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  <a:hlinkClick r:id="rId12" action="ppaction://hlinksldjump"/>
              </a:rPr>
              <a:t>Xem chạy thử nghiệm trực tiếp thông qua câu lệnh console.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85181" y="538162"/>
            <a:ext cx="558185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737"/>
              </a:lnSpc>
              <a:spcBef>
                <a:spcPct val="0"/>
              </a:spcBef>
            </a:pPr>
            <a:r>
              <a:rPr lang="en-US" b="true" sz="6447" spc="-96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Tóm</a:t>
            </a:r>
            <a:r>
              <a:rPr lang="en-US" b="true" sz="6447" spc="-96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tắt dự án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376890">
            <a:off x="-4899893" y="6122938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4"/>
                </a:lnTo>
                <a:lnTo>
                  <a:pt x="0" y="832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02323" y="3395674"/>
            <a:ext cx="11483353" cy="4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0"/>
              </a:lnSpc>
            </a:pPr>
            <a:r>
              <a:rPr lang="en-US" sz="3142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Công cụ kiểm thử tự động chính:</a:t>
            </a:r>
          </a:p>
          <a:p>
            <a:pPr algn="l" marL="636848" indent="-318424" lvl="1">
              <a:lnSpc>
                <a:spcPts val="3539"/>
              </a:lnSpc>
              <a:buFont typeface="Arial"/>
              <a:buChar char="•"/>
            </a:pPr>
            <a:r>
              <a:rPr lang="en-US" sz="2949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Playwright (JavaScript/NodeJS) - Standalone test suite</a:t>
            </a:r>
          </a:p>
          <a:p>
            <a:pPr algn="l" marL="595312" indent="-297656" lvl="1">
              <a:lnSpc>
                <a:spcPts val="3308"/>
              </a:lnSpc>
              <a:buFont typeface="Arial"/>
              <a:buChar char="•"/>
            </a:pPr>
            <a:r>
              <a:rPr lang="en-US" sz="2757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Tự động hóa E2E UI testing cho các chức năng.</a:t>
            </a:r>
          </a:p>
          <a:p>
            <a:pPr algn="l" marL="595312" indent="-297656" lvl="1">
              <a:lnSpc>
                <a:spcPts val="3308"/>
              </a:lnSpc>
              <a:buFont typeface="Arial"/>
              <a:buChar char="•"/>
            </a:pPr>
            <a:r>
              <a:rPr lang="en-US" sz="2757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Cơ chế tự động chờ (Auto-wait) giúp test chạy ổn định.</a:t>
            </a:r>
          </a:p>
          <a:p>
            <a:pPr algn="l" marL="595311" indent="-297655" lvl="1">
              <a:lnSpc>
                <a:spcPts val="3308"/>
              </a:lnSpc>
              <a:buFont typeface="Arial"/>
              <a:buChar char="•"/>
            </a:pPr>
            <a:r>
              <a:rPr lang="en-US" sz="2757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Xuất HTML Report chi tiết có kèm screenshot.</a:t>
            </a:r>
          </a:p>
          <a:p>
            <a:pPr algn="l">
              <a:lnSpc>
                <a:spcPts val="3308"/>
              </a:lnSpc>
            </a:pPr>
          </a:p>
          <a:p>
            <a:pPr algn="l">
              <a:lnSpc>
                <a:spcPts val="3770"/>
              </a:lnSpc>
            </a:pPr>
            <a:r>
              <a:rPr lang="en-US" sz="3142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Công cụ phân tích mã nguồn tĩnh:</a:t>
            </a:r>
          </a:p>
          <a:p>
            <a:pPr algn="l" marL="636848" indent="-318424" lvl="1">
              <a:lnSpc>
                <a:spcPts val="3539"/>
              </a:lnSpc>
              <a:buFont typeface="Arial"/>
              <a:buChar char="•"/>
            </a:pPr>
            <a:r>
              <a:rPr lang="en-US" sz="2949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ESLint (React Frontend) &amp; SonarLint (Spring Boot Backend)</a:t>
            </a:r>
          </a:p>
          <a:p>
            <a:pPr algn="l" marL="595312" indent="-297656" lvl="1">
              <a:lnSpc>
                <a:spcPts val="3308"/>
              </a:lnSpc>
              <a:buFont typeface="Arial"/>
              <a:buChar char="•"/>
            </a:pPr>
            <a:r>
              <a:rPr lang="en-US" sz="2757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Phát hiện sớm lỗi cú pháp, biến chưa dùng.</a:t>
            </a:r>
          </a:p>
          <a:p>
            <a:pPr algn="l" marL="595312" indent="-297656" lvl="1">
              <a:lnSpc>
                <a:spcPts val="3308"/>
              </a:lnSpc>
              <a:buFont typeface="Arial"/>
              <a:buChar char="•"/>
            </a:pPr>
            <a:r>
              <a:rPr lang="en-US" sz="2757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Bảo đảm quy tắc code sạch và nhất quán.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5737" y="1028700"/>
            <a:ext cx="14956525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b="true" sz="7100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1. LỰA CHỌN CÔNG</a:t>
            </a:r>
            <a:r>
              <a:rPr lang="en-US" b="true" sz="7100" u="none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 CỤ KIỂM THỬ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80" y="-1470403"/>
            <a:ext cx="14026196" cy="11628992"/>
          </a:xfrm>
          <a:custGeom>
            <a:avLst/>
            <a:gdLst/>
            <a:ahLst/>
            <a:cxnLst/>
            <a:rect r="r" b="b" t="t" l="l"/>
            <a:pathLst>
              <a:path h="11628992" w="14026196">
                <a:moveTo>
                  <a:pt x="0" y="0"/>
                </a:moveTo>
                <a:lnTo>
                  <a:pt x="14026196" y="0"/>
                </a:lnTo>
                <a:lnTo>
                  <a:pt x="14026196" y="11628992"/>
                </a:lnTo>
                <a:lnTo>
                  <a:pt x="0" y="11628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3440063"/>
            <a:ext cx="8382178" cy="4343479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80902" y="833449"/>
            <a:ext cx="1806914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5400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2. QUY TRÌNH CÀ</a:t>
            </a:r>
            <a:r>
              <a:rPr lang="en-US" b="true" sz="5400" u="none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I ĐẶT &amp; CẤU HÌNH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0867" y="3900030"/>
            <a:ext cx="7357844" cy="340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593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Cài đặt thư viện Playwright tại folder frontend:</a:t>
            </a:r>
          </a:p>
          <a:p>
            <a:pPr algn="l">
              <a:lnSpc>
                <a:spcPts val="2921"/>
              </a:lnSpc>
            </a:pPr>
            <a:r>
              <a:rPr lang="en-US" sz="2434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Chạy các câu lệnh cài đặt độc lập bên phải.</a:t>
            </a:r>
          </a:p>
          <a:p>
            <a:pPr algn="l">
              <a:lnSpc>
                <a:spcPts val="3112"/>
              </a:lnSpc>
            </a:pPr>
          </a:p>
          <a:p>
            <a:pPr algn="l">
              <a:lnSpc>
                <a:spcPts val="3112"/>
              </a:lnSpc>
            </a:pPr>
            <a:r>
              <a:rPr lang="en-US" sz="2593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Thiết lập cấu hình tối giản (`playwright.config.js`):</a:t>
            </a:r>
          </a:p>
          <a:p>
            <a:pPr algn="l">
              <a:lnSpc>
                <a:spcPts val="2921"/>
              </a:lnSpc>
            </a:pPr>
            <a:r>
              <a:rPr lang="en-US" sz="2434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baseURL: http://localhost:5173</a:t>
            </a:r>
          </a:p>
          <a:p>
            <a:pPr algn="l">
              <a:lnSpc>
                <a:spcPts val="2921"/>
              </a:lnSpc>
            </a:pPr>
            <a:r>
              <a:rPr lang="en-US" sz="2434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workers: 1 (Chạy tuần tự tránh xung đột dữ liệu)</a:t>
            </a:r>
          </a:p>
          <a:p>
            <a:pPr algn="l">
              <a:lnSpc>
                <a:spcPts val="2921"/>
              </a:lnSpc>
            </a:pPr>
            <a:r>
              <a:rPr lang="en-US" sz="2434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screenshot: 'only-on-failure' (Tự chụp ảnh khi lỗi)</a:t>
            </a:r>
          </a:p>
          <a:p>
            <a:pPr algn="l">
              <a:lnSpc>
                <a:spcPts val="2921"/>
              </a:lnSpc>
            </a:pPr>
            <a:r>
              <a:rPr lang="en-US" sz="2434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reporter: [['html']]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010975" y="2461279"/>
            <a:ext cx="7156961" cy="2901677"/>
            <a:chOff x="0" y="0"/>
            <a:chExt cx="9542615" cy="386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42653" cy="3868928"/>
            </a:xfrm>
            <a:custGeom>
              <a:avLst/>
              <a:gdLst/>
              <a:ahLst/>
              <a:cxnLst/>
              <a:rect r="r" b="b" t="t" l="l"/>
              <a:pathLst>
                <a:path h="3868928" w="9542653">
                  <a:moveTo>
                    <a:pt x="0" y="0"/>
                  </a:moveTo>
                  <a:lnTo>
                    <a:pt x="9542653" y="0"/>
                  </a:lnTo>
                  <a:lnTo>
                    <a:pt x="9542653" y="3868928"/>
                  </a:lnTo>
                  <a:lnTo>
                    <a:pt x="0" y="3868928"/>
                  </a:lnTo>
                  <a:close/>
                </a:path>
              </a:pathLst>
            </a:custGeom>
            <a:solidFill>
              <a:srgbClr val="1E1E1E"/>
            </a:solidFill>
            <a:ln w="19065" cap="sq">
              <a:solidFill>
                <a:srgbClr val="E0562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542615" cy="390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E05624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&gt;_  Terminal - Lệnh cài đặt Playwright</a:t>
              </a:r>
            </a:p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F0F0F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          </a:t>
              </a:r>
              <a:r>
                <a:rPr lang="en-US" sz="1651">
                  <a:solidFill>
                    <a:srgbClr val="F0F0F0"/>
                  </a:solidFill>
                  <a:latin typeface="Consolas"/>
                  <a:ea typeface="Consolas"/>
                  <a:cs typeface="Consolas"/>
                  <a:sym typeface="Consolas"/>
                </a:rPr>
                <a:t>cd code/frontend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F0F0F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npm install -D @playwright/test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F0F0F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npx playwright install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10975" y="5755691"/>
            <a:ext cx="7156961" cy="2901677"/>
            <a:chOff x="0" y="0"/>
            <a:chExt cx="9542615" cy="38689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42653" cy="3868928"/>
            </a:xfrm>
            <a:custGeom>
              <a:avLst/>
              <a:gdLst/>
              <a:ahLst/>
              <a:cxnLst/>
              <a:rect r="r" b="b" t="t" l="l"/>
              <a:pathLst>
                <a:path h="3868928" w="9542653">
                  <a:moveTo>
                    <a:pt x="0" y="0"/>
                  </a:moveTo>
                  <a:lnTo>
                    <a:pt x="9542653" y="0"/>
                  </a:lnTo>
                  <a:lnTo>
                    <a:pt x="9542653" y="3868928"/>
                  </a:lnTo>
                  <a:lnTo>
                    <a:pt x="0" y="3868928"/>
                  </a:lnTo>
                  <a:close/>
                </a:path>
              </a:pathLst>
            </a:custGeom>
            <a:solidFill>
              <a:srgbClr val="1E1E1E"/>
            </a:solidFill>
            <a:ln w="19065" cap="sq">
              <a:solidFill>
                <a:srgbClr val="E05624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542615" cy="390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E05624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&gt;_  File - playwright.config.js</a:t>
              </a:r>
            </a:p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F0F0F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              </a:t>
              </a:r>
              <a:r>
                <a:rPr lang="en-US" sz="1651">
                  <a:solidFill>
                    <a:srgbClr val="F0F0F0"/>
                  </a:solidFill>
                  <a:latin typeface="Consolas"/>
                  <a:ea typeface="Consolas"/>
                  <a:cs typeface="Consolas"/>
                  <a:sym typeface="Consolas"/>
                </a:rPr>
                <a:t>use: {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F0F0F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    baseURL: 'http://localhost:5173',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F0F0F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    screenshot: 'only-on-failure',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F0F0F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  },</a:t>
              </a:r>
            </a:p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F0F0F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  workers: 1,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1041">
            <a:off x="-6521096" y="3918118"/>
            <a:ext cx="17614873" cy="17454738"/>
          </a:xfrm>
          <a:custGeom>
            <a:avLst/>
            <a:gdLst/>
            <a:ahLst/>
            <a:cxnLst/>
            <a:rect r="r" b="b" t="t" l="l"/>
            <a:pathLst>
              <a:path h="17454738" w="17614873">
                <a:moveTo>
                  <a:pt x="0" y="0"/>
                </a:moveTo>
                <a:lnTo>
                  <a:pt x="17614873" y="0"/>
                </a:lnTo>
                <a:lnTo>
                  <a:pt x="17614873" y="17454738"/>
                </a:lnTo>
                <a:lnTo>
                  <a:pt x="0" y="17454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362730" y="3956663"/>
            <a:ext cx="7262907" cy="4432197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7952417" y="2495550"/>
            <a:ext cx="9870951" cy="7354423"/>
          </a:xfrm>
          <a:custGeom>
            <a:avLst/>
            <a:gdLst/>
            <a:ahLst/>
            <a:cxnLst/>
            <a:rect r="r" b="b" t="t" l="l"/>
            <a:pathLst>
              <a:path h="7354423" w="9870951">
                <a:moveTo>
                  <a:pt x="0" y="0"/>
                </a:moveTo>
                <a:lnTo>
                  <a:pt x="9870951" y="0"/>
                </a:lnTo>
                <a:lnTo>
                  <a:pt x="9870951" y="7354423"/>
                </a:lnTo>
                <a:lnTo>
                  <a:pt x="0" y="7354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699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4433" y="628650"/>
            <a:ext cx="1711913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5400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3. CHIẾN LƯỢC</a:t>
            </a:r>
            <a:r>
              <a:rPr lang="en-US" b="true" sz="5400" u="none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 DỮ LIỆU LIÊN THÔNG (SEQUENTIAL)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2159" y="4129649"/>
            <a:ext cx="6624048" cy="407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016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Kịch bản kiểm thử chạy theo chuỗi tuyến tính (Pipeline):</a:t>
            </a:r>
          </a:p>
          <a:p>
            <a:pPr algn="l" marL="406320" indent="-203160" lvl="1">
              <a:lnSpc>
                <a:spcPts val="2258"/>
              </a:lnSpc>
              <a:buFont typeface="Arial"/>
              <a:buChar char="•"/>
            </a:pPr>
            <a:r>
              <a:rPr lang="en-US" sz="188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Do các tính năng của dự án có mối liên kết chặt chẽ:</a:t>
            </a:r>
          </a:p>
          <a:p>
            <a:pPr algn="l" marL="377298" indent="-188649" lvl="1">
              <a:lnSpc>
                <a:spcPts val="2097"/>
              </a:lnSpc>
              <a:buFont typeface="Arial"/>
              <a:buChar char="•"/>
            </a:pPr>
            <a:r>
              <a:rPr lang="en-US" sz="1747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Requirement -&gt; Use Case -&gt; Sprint -&gt; Task -&gt; Issue</a:t>
            </a:r>
          </a:p>
          <a:p>
            <a:pPr algn="l" marL="406320" indent="-203160" lvl="1">
              <a:lnSpc>
                <a:spcPts val="2258"/>
              </a:lnSpc>
              <a:buFont typeface="Arial"/>
              <a:buChar char="•"/>
            </a:pPr>
            <a:r>
              <a:rPr lang="en-US" sz="188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Dữ liệu đầu ra của bước trước sẽ làm đầu vào cho bước sau.</a:t>
            </a:r>
          </a:p>
          <a:p>
            <a:pPr algn="l">
              <a:lnSpc>
                <a:spcPts val="2258"/>
              </a:lnSpc>
            </a:pPr>
          </a:p>
          <a:p>
            <a:pPr algn="l">
              <a:lnSpc>
                <a:spcPts val="2419"/>
              </a:lnSpc>
            </a:pPr>
            <a:r>
              <a:rPr lang="en-US" sz="2016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Thông tin tài khoản đăng nhập (Seed data):</a:t>
            </a:r>
          </a:p>
          <a:p>
            <a:pPr algn="l" marL="406320" indent="-203160" lvl="1">
              <a:lnSpc>
                <a:spcPts val="2258"/>
              </a:lnSpc>
              <a:buFont typeface="Arial"/>
              <a:buChar char="•"/>
            </a:pPr>
            <a:r>
              <a:rPr lang="en-US" sz="188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Email: leader@devtrack.test</a:t>
            </a:r>
          </a:p>
          <a:p>
            <a:pPr algn="l" marL="406320" indent="-203160" lvl="1">
              <a:lnSpc>
                <a:spcPts val="2258"/>
              </a:lnSpc>
              <a:buFont typeface="Arial"/>
              <a:buChar char="•"/>
            </a:pPr>
            <a:r>
              <a:rPr lang="en-US" sz="188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Mật khẩu: User@123 (Vai trò PM)</a:t>
            </a:r>
          </a:p>
          <a:p>
            <a:pPr algn="l">
              <a:lnSpc>
                <a:spcPts val="2419"/>
              </a:lnSpc>
            </a:pPr>
          </a:p>
          <a:p>
            <a:pPr algn="l">
              <a:lnSpc>
                <a:spcPts val="2419"/>
              </a:lnSpc>
            </a:pPr>
            <a:r>
              <a:rPr lang="en-US" sz="2016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Lợi ích:</a:t>
            </a:r>
          </a:p>
          <a:p>
            <a:pPr algn="l" marL="406320" indent="-203160" lvl="1">
              <a:lnSpc>
                <a:spcPts val="2258"/>
              </a:lnSpc>
              <a:buFont typeface="Arial"/>
              <a:buChar char="•"/>
            </a:pPr>
            <a:r>
              <a:rPr lang="en-US" sz="188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Dữ liệu kiểm thử tự cô lập, không bị xung đột khi chạy lại nhiều lần.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82225" y="549341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2" y="0"/>
                </a:lnTo>
                <a:lnTo>
                  <a:pt x="21239322" y="4893203"/>
                </a:lnTo>
                <a:lnTo>
                  <a:pt x="0" y="4893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21725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2960077"/>
            <a:ext cx="8450870" cy="5176418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9798484" y="2148798"/>
            <a:ext cx="8146666" cy="3220178"/>
          </a:xfrm>
          <a:custGeom>
            <a:avLst/>
            <a:gdLst/>
            <a:ahLst/>
            <a:cxnLst/>
            <a:rect r="r" b="b" t="t" l="l"/>
            <a:pathLst>
              <a:path h="3220178" w="8146666">
                <a:moveTo>
                  <a:pt x="0" y="0"/>
                </a:moveTo>
                <a:lnTo>
                  <a:pt x="8146666" y="0"/>
                </a:lnTo>
                <a:lnTo>
                  <a:pt x="8146666" y="3220178"/>
                </a:lnTo>
                <a:lnTo>
                  <a:pt x="0" y="32201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98484" y="5559323"/>
            <a:ext cx="8146666" cy="4119546"/>
          </a:xfrm>
          <a:custGeom>
            <a:avLst/>
            <a:gdLst/>
            <a:ahLst/>
            <a:cxnLst/>
            <a:rect r="r" b="b" t="t" l="l"/>
            <a:pathLst>
              <a:path h="4119546" w="8146666">
                <a:moveTo>
                  <a:pt x="0" y="0"/>
                </a:moveTo>
                <a:lnTo>
                  <a:pt x="8146666" y="0"/>
                </a:lnTo>
                <a:lnTo>
                  <a:pt x="8146666" y="4119546"/>
                </a:lnTo>
                <a:lnTo>
                  <a:pt x="0" y="4119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0902" y="833449"/>
            <a:ext cx="1806914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5400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4. KỊCH BẢ</a:t>
            </a:r>
            <a:r>
              <a:rPr lang="en-US" b="true" sz="5400" u="none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N: REQUIREMENT &amp; USE CASE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3847" y="3455062"/>
            <a:ext cx="7220575" cy="405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351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Kịch bản 1: Tạo Requirement mới</a:t>
            </a:r>
          </a:p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Điều hướng đến Requirements -&gt; Click 'Add Requirement'.</a:t>
            </a:r>
          </a:p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Điền Requirement Title, chọn Type -&gt; Save Requirement.</a:t>
            </a:r>
          </a:p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Xác thực: Requirement xuất hiện trên danh sách.</a:t>
            </a:r>
          </a:p>
          <a:p>
            <a:pPr algn="l">
              <a:lnSpc>
                <a:spcPts val="2641"/>
              </a:lnSpc>
            </a:pPr>
          </a:p>
          <a:p>
            <a:pPr algn="l">
              <a:lnSpc>
                <a:spcPts val="2822"/>
              </a:lnSpc>
            </a:pPr>
            <a:r>
              <a:rPr lang="en-US" sz="2351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Kịch bản 2: Tạo Use Case</a:t>
            </a:r>
          </a:p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Điều hướng đến Use Cases -&gt; Click 'Add Use Case'.</a:t>
            </a:r>
          </a:p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Nhập Use Case Name, Actors, Main Flow.</a:t>
            </a:r>
          </a:p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Chọn liên kết với Requirement vừa tạo ở Bước 1 ở phần dropdown.</a:t>
            </a:r>
          </a:p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Xác thực: Use Case được lưu thành công kèm liên kết.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179240">
            <a:off x="-5330347" y="-1868704"/>
            <a:ext cx="9671854" cy="7983676"/>
          </a:xfrm>
          <a:custGeom>
            <a:avLst/>
            <a:gdLst/>
            <a:ahLst/>
            <a:cxnLst/>
            <a:rect r="r" b="b" t="t" l="l"/>
            <a:pathLst>
              <a:path h="7983676" w="9671854">
                <a:moveTo>
                  <a:pt x="0" y="0"/>
                </a:moveTo>
                <a:lnTo>
                  <a:pt x="9671853" y="0"/>
                </a:lnTo>
                <a:lnTo>
                  <a:pt x="9671853" y="7983676"/>
                </a:lnTo>
                <a:lnTo>
                  <a:pt x="0" y="7983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580902" y="1380087"/>
            <a:ext cx="8450870" cy="5531726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0208888" y="409575"/>
            <a:ext cx="7050412" cy="4400528"/>
          </a:xfrm>
          <a:custGeom>
            <a:avLst/>
            <a:gdLst/>
            <a:ahLst/>
            <a:cxnLst/>
            <a:rect r="r" b="b" t="t" l="l"/>
            <a:pathLst>
              <a:path h="4400528" w="7050412">
                <a:moveTo>
                  <a:pt x="0" y="0"/>
                </a:moveTo>
                <a:lnTo>
                  <a:pt x="7050412" y="0"/>
                </a:lnTo>
                <a:lnTo>
                  <a:pt x="7050412" y="4400528"/>
                </a:lnTo>
                <a:lnTo>
                  <a:pt x="0" y="440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08888" y="5557644"/>
            <a:ext cx="7050412" cy="4399633"/>
          </a:xfrm>
          <a:custGeom>
            <a:avLst/>
            <a:gdLst/>
            <a:ahLst/>
            <a:cxnLst/>
            <a:rect r="r" b="b" t="t" l="l"/>
            <a:pathLst>
              <a:path h="4399633" w="7050412">
                <a:moveTo>
                  <a:pt x="0" y="0"/>
                </a:moveTo>
                <a:lnTo>
                  <a:pt x="7050412" y="0"/>
                </a:lnTo>
                <a:lnTo>
                  <a:pt x="7050412" y="4399633"/>
                </a:lnTo>
                <a:lnTo>
                  <a:pt x="0" y="4399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8228" y="7264239"/>
            <a:ext cx="8967245" cy="2693038"/>
          </a:xfrm>
          <a:custGeom>
            <a:avLst/>
            <a:gdLst/>
            <a:ahLst/>
            <a:cxnLst/>
            <a:rect r="r" b="b" t="t" l="l"/>
            <a:pathLst>
              <a:path h="2693038" w="8967245">
                <a:moveTo>
                  <a:pt x="0" y="0"/>
                </a:moveTo>
                <a:lnTo>
                  <a:pt x="8967245" y="0"/>
                </a:lnTo>
                <a:lnTo>
                  <a:pt x="8967245" y="2693038"/>
                </a:lnTo>
                <a:lnTo>
                  <a:pt x="0" y="26930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0902" y="409575"/>
            <a:ext cx="18069141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20"/>
              </a:lnSpc>
              <a:spcBef>
                <a:spcPct val="0"/>
              </a:spcBef>
            </a:pPr>
            <a:r>
              <a:rPr lang="en-US" b="true" sz="4100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5. KỊCH BẢ</a:t>
            </a:r>
            <a:r>
              <a:rPr lang="en-US" b="true" sz="4100" u="none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N: SPRINT, TASK &amp; ISSUE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4635" y="1726601"/>
            <a:ext cx="7463404" cy="481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Kịch bản 3: Tạo Sprint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Vào Sprints -&gt; Click 'New Sprint' -&gt; Điền tên, ngày bắt đầu và kết thúc -&gt; Click 'Save Sprint'.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Xác thực: Sprint hiểnthịtrongdanhsách Drawer chi tiết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Kịch bản 4: Tạo Task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Vào Taskboard -&gt; Click 'New Task'.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Điền Title, Requirement, Start Date, End Date, Type -&gt; Chọn Sprint vừa tạo ở dropdown -&gt; Create Task.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Xác thực Task hiểnthị ở cột To DDo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Kịch bản 5: Báo lỗi (Issue)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Vào mục Bugs -&gt; Click 'Report Bug'.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Nhập mô tả, chọn độ nghiêm trọng HIGH -&gt; 'Create Bug Report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580902" y="3431682"/>
            <a:ext cx="8277222" cy="4481349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448489" y="-1844711"/>
            <a:ext cx="12008614" cy="10502078"/>
          </a:xfrm>
          <a:custGeom>
            <a:avLst/>
            <a:gdLst/>
            <a:ahLst/>
            <a:cxnLst/>
            <a:rect r="r" b="b" t="t" l="l"/>
            <a:pathLst>
              <a:path h="10502078" w="12008614">
                <a:moveTo>
                  <a:pt x="0" y="0"/>
                </a:moveTo>
                <a:lnTo>
                  <a:pt x="12008614" y="0"/>
                </a:lnTo>
                <a:lnTo>
                  <a:pt x="12008614" y="10502079"/>
                </a:lnTo>
                <a:lnTo>
                  <a:pt x="0" y="10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010975" y="2461279"/>
            <a:ext cx="7156961" cy="1940806"/>
            <a:chOff x="0" y="0"/>
            <a:chExt cx="9542615" cy="25877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42653" cy="2587754"/>
            </a:xfrm>
            <a:custGeom>
              <a:avLst/>
              <a:gdLst/>
              <a:ahLst/>
              <a:cxnLst/>
              <a:rect r="r" b="b" t="t" l="l"/>
              <a:pathLst>
                <a:path h="2587754" w="9542653">
                  <a:moveTo>
                    <a:pt x="0" y="0"/>
                  </a:moveTo>
                  <a:lnTo>
                    <a:pt x="9542653" y="0"/>
                  </a:lnTo>
                  <a:lnTo>
                    <a:pt x="9542653" y="2587754"/>
                  </a:lnTo>
                  <a:lnTo>
                    <a:pt x="0" y="2587754"/>
                  </a:lnTo>
                  <a:close/>
                </a:path>
              </a:pathLst>
            </a:custGeom>
            <a:solidFill>
              <a:srgbClr val="1E1E1E"/>
            </a:solidFill>
            <a:ln w="19065" cap="sq">
              <a:solidFill>
                <a:srgbClr val="E05624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542615" cy="2625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E05624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&gt;_  Terminal - Lệnh chạy Live Demo</a:t>
              </a:r>
            </a:p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F0F0F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            </a:t>
              </a:r>
              <a:r>
                <a:rPr lang="en-US" sz="1651">
                  <a:solidFill>
                    <a:srgbClr val="F0F0F0"/>
                  </a:solidFill>
                  <a:latin typeface="Consolas"/>
                  <a:ea typeface="Consolas"/>
                  <a:cs typeface="Consolas"/>
                  <a:sym typeface="Consolas"/>
                </a:rPr>
                <a:t>npx playwright test --headed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365278" y="4883685"/>
            <a:ext cx="8448355" cy="4814013"/>
          </a:xfrm>
          <a:custGeom>
            <a:avLst/>
            <a:gdLst/>
            <a:ahLst/>
            <a:cxnLst/>
            <a:rect r="r" b="b" t="t" l="l"/>
            <a:pathLst>
              <a:path h="4814013" w="8448355">
                <a:moveTo>
                  <a:pt x="0" y="0"/>
                </a:moveTo>
                <a:lnTo>
                  <a:pt x="8448355" y="0"/>
                </a:lnTo>
                <a:lnTo>
                  <a:pt x="8448355" y="4814013"/>
                </a:lnTo>
                <a:lnTo>
                  <a:pt x="0" y="4814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0902" y="833449"/>
            <a:ext cx="1806914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5400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6. KẾT QUẢ CHẠY K</a:t>
            </a:r>
            <a:r>
              <a:rPr lang="en-US" b="true" sz="5400" u="none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IỂM THỬ (LIVE DEMO)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3000" y="3905469"/>
            <a:ext cx="7353027" cy="352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2"/>
              </a:lnSpc>
            </a:pPr>
            <a:r>
              <a:rPr lang="en-US" sz="2451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Thực thi câu lệnh chạy kiểm thử: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Dùng câu lệnh phía bên phải để kích hoạt giao diện test.</a:t>
            </a:r>
          </a:p>
          <a:p>
            <a:pPr algn="l">
              <a:lnSpc>
                <a:spcPts val="2761"/>
              </a:lnSpc>
            </a:pPr>
          </a:p>
          <a:p>
            <a:pPr algn="l">
              <a:lnSpc>
                <a:spcPts val="2942"/>
              </a:lnSpc>
            </a:pPr>
            <a:r>
              <a:rPr lang="en-US" sz="2451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Quy trình diễn ra trực quan: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Trình duyệt tự mở và tự điền thông tin đăng nhập.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Thực hiện chuỗi hành động click và điền form tự động.</a:t>
            </a:r>
          </a:p>
          <a:p>
            <a:pPr algn="l">
              <a:lnSpc>
                <a:spcPts val="2761"/>
              </a:lnSpc>
            </a:pPr>
          </a:p>
          <a:p>
            <a:pPr algn="l">
              <a:lnSpc>
                <a:spcPts val="2942"/>
              </a:lnSpc>
            </a:pPr>
            <a:r>
              <a:rPr lang="en-US" sz="2451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Kết quả thực tế: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Thời gian thực thi toàn bộ kịch bản: ~26 giây.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Trạng thái: 5/5 kịch bản thành công (1 passed xanh lá).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580902" y="1870438"/>
            <a:ext cx="7330705" cy="4049701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Freeform 3" id="3"/>
          <p:cNvSpPr/>
          <p:nvPr/>
        </p:nvSpPr>
        <p:spPr>
          <a:xfrm flipH="false" flipV="false" rot="64828">
            <a:off x="11115746" y="-1606197"/>
            <a:ext cx="9671854" cy="7983676"/>
          </a:xfrm>
          <a:custGeom>
            <a:avLst/>
            <a:gdLst/>
            <a:ahLst/>
            <a:cxnLst/>
            <a:rect r="r" b="b" t="t" l="l"/>
            <a:pathLst>
              <a:path h="7983676" w="9671854">
                <a:moveTo>
                  <a:pt x="0" y="0"/>
                </a:moveTo>
                <a:lnTo>
                  <a:pt x="9671853" y="0"/>
                </a:lnTo>
                <a:lnTo>
                  <a:pt x="9671853" y="7983675"/>
                </a:lnTo>
                <a:lnTo>
                  <a:pt x="0" y="7983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80902" y="7393954"/>
            <a:ext cx="7156961" cy="1940806"/>
            <a:chOff x="0" y="0"/>
            <a:chExt cx="9542615" cy="25877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42653" cy="2587754"/>
            </a:xfrm>
            <a:custGeom>
              <a:avLst/>
              <a:gdLst/>
              <a:ahLst/>
              <a:cxnLst/>
              <a:rect r="r" b="b" t="t" l="l"/>
              <a:pathLst>
                <a:path h="2587754" w="9542653">
                  <a:moveTo>
                    <a:pt x="0" y="0"/>
                  </a:moveTo>
                  <a:lnTo>
                    <a:pt x="9542653" y="0"/>
                  </a:lnTo>
                  <a:lnTo>
                    <a:pt x="9542653" y="2587754"/>
                  </a:lnTo>
                  <a:lnTo>
                    <a:pt x="0" y="2587754"/>
                  </a:lnTo>
                  <a:close/>
                </a:path>
              </a:pathLst>
            </a:custGeom>
            <a:solidFill>
              <a:srgbClr val="1E1E1E"/>
            </a:solidFill>
            <a:ln w="19065" cap="sq">
              <a:solidFill>
                <a:srgbClr val="E05624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542615" cy="2625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E05624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&gt;_  Terminal - Lệnh phân tích code tĩnh</a:t>
              </a:r>
            </a:p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F0F0F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         </a:t>
              </a:r>
              <a:r>
                <a:rPr lang="en-US" sz="1651">
                  <a:solidFill>
                    <a:srgbClr val="F0F0F0"/>
                  </a:solidFill>
                  <a:latin typeface="Consolas"/>
                  <a:ea typeface="Consolas"/>
                  <a:cs typeface="Consolas"/>
                  <a:sym typeface="Consolas"/>
                </a:rPr>
                <a:t>npm run lint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393882" y="1870438"/>
            <a:ext cx="9685321" cy="2276050"/>
          </a:xfrm>
          <a:custGeom>
            <a:avLst/>
            <a:gdLst/>
            <a:ahLst/>
            <a:cxnLst/>
            <a:rect r="r" b="b" t="t" l="l"/>
            <a:pathLst>
              <a:path h="2276050" w="9685321">
                <a:moveTo>
                  <a:pt x="0" y="0"/>
                </a:moveTo>
                <a:lnTo>
                  <a:pt x="9685321" y="0"/>
                </a:lnTo>
                <a:lnTo>
                  <a:pt x="9685321" y="2276051"/>
                </a:lnTo>
                <a:lnTo>
                  <a:pt x="0" y="22760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93882" y="4909779"/>
            <a:ext cx="9685321" cy="4424981"/>
          </a:xfrm>
          <a:custGeom>
            <a:avLst/>
            <a:gdLst/>
            <a:ahLst/>
            <a:cxnLst/>
            <a:rect r="r" b="b" t="t" l="l"/>
            <a:pathLst>
              <a:path h="4424981" w="9685321">
                <a:moveTo>
                  <a:pt x="0" y="0"/>
                </a:moveTo>
                <a:lnTo>
                  <a:pt x="9685321" y="0"/>
                </a:lnTo>
                <a:lnTo>
                  <a:pt x="9685321" y="4424981"/>
                </a:lnTo>
                <a:lnTo>
                  <a:pt x="0" y="44249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0902" y="628650"/>
            <a:ext cx="1806914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5400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7. BÁO CÁO K</a:t>
            </a:r>
            <a:r>
              <a:rPr lang="en-US" b="true" sz="5400" u="none">
                <a:solidFill>
                  <a:srgbClr val="000000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IỂM THỬ &amp; PHÂN TÍCH TĨNH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769" y="2258509"/>
            <a:ext cx="6572971" cy="326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3"/>
              </a:lnSpc>
            </a:pPr>
            <a:r>
              <a:rPr lang="en-US" sz="2044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Báo cáo giao diện trực quan (Playwright HTML Report):</a:t>
            </a:r>
          </a:p>
          <a:p>
            <a:pPr algn="l">
              <a:lnSpc>
                <a:spcPts val="2296"/>
              </a:lnSpc>
            </a:pPr>
            <a:r>
              <a:rPr lang="en-US" sz="1914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Xem báo cáo qua lệnh: npx playwright show-report</a:t>
            </a:r>
          </a:p>
          <a:p>
            <a:pPr algn="l">
              <a:lnSpc>
                <a:spcPts val="2296"/>
              </a:lnSpc>
            </a:pPr>
            <a:r>
              <a:rPr lang="en-US" sz="1914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Xem thời gian chạy chi tiết và hình ảnh chụp màn hình từng bước.</a:t>
            </a:r>
          </a:p>
          <a:p>
            <a:pPr algn="l">
              <a:lnSpc>
                <a:spcPts val="2296"/>
              </a:lnSpc>
            </a:pPr>
          </a:p>
          <a:p>
            <a:pPr algn="l">
              <a:lnSpc>
                <a:spcPts val="2557"/>
              </a:lnSpc>
            </a:pPr>
            <a:r>
              <a:rPr lang="en-US" sz="2131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Phân tích chất lượng mã nguồn tĩnh (ESLint):</a:t>
            </a:r>
          </a:p>
          <a:p>
            <a:pPr algn="l">
              <a:lnSpc>
                <a:spcPts val="2296"/>
              </a:lnSpc>
            </a:pPr>
            <a:r>
              <a:rPr lang="en-US" sz="1914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Thực hiện câu lệnh phân tích bên phải để kiểm tra chất lượng.</a:t>
            </a:r>
          </a:p>
          <a:p>
            <a:pPr algn="l">
              <a:lnSpc>
                <a:spcPts val="2296"/>
              </a:lnSpc>
            </a:pPr>
            <a:r>
              <a:rPr lang="en-US" sz="1914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Phát hiện sớm lỗi cú pháp, biến chưa dùng trong frontend.</a:t>
            </a:r>
          </a:p>
          <a:p>
            <a:pPr algn="l">
              <a:lnSpc>
                <a:spcPts val="2296"/>
              </a:lnSpc>
            </a:pPr>
            <a:r>
              <a:rPr lang="en-US" sz="1914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Đảm bảo chất lượng code sạch trước khi tích hợp.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DAHPjj44cJA</dc:identifier>
  <dcterms:modified xsi:type="dcterms:W3CDTF">2011-08-01T06:04:30Z</dcterms:modified>
  <cp:revision>1</cp:revision>
  <dc:title>Cam Trắng Mô đun Trừu tượng Bản trình bày chiến lược Bản thuyết trình Kinh doanh</dc:title>
</cp:coreProperties>
</file>